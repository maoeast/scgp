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开场约 3 分钟。介绍开发目标：将学生资料、评估、计划、训练和结果回看放到连续流程中。不要承诺医疗诊断或疗效。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4 分钟。介绍六个核心入口，指出实际权限和已配置功能以医院部署为准。截图来自 SCGP 用户手册。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4 分钟。强调系统提供目标与记录工具，实物训练仍由现场人员实施和观察。教具型号以医院实收清单为准。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4 分钟。说明后续 120 分钟将直接打开系统演示，以模拟个案贯穿。安排教具体验与分组实操。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实操结束后显示本页，向参训团队致谢。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2138"/>
          </a:solidFill>
          <a:ln/>
        </p:spPr>
      </p:sp>
      <p:sp>
        <p:nvSpPr>
          <p:cNvPr id="3" name="Shape 1"/>
          <p:cNvSpPr/>
          <p:nvPr/>
        </p:nvSpPr>
        <p:spPr>
          <a:xfrm>
            <a:off x="12430125" y="-1666875"/>
            <a:ext cx="7334250" cy="7334250"/>
          </a:xfrm>
          <a:prstGeom prst="ellipse">
            <a:avLst/>
          </a:prstGeom>
          <a:ln w="28575">
            <a:solidFill>
              <a:srgbClr val="2850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11200" y="-647700"/>
            <a:ext cx="5334000" cy="5334000"/>
          </a:xfrm>
          <a:prstGeom prst="ellipse">
            <a:avLst/>
          </a:prstGeom>
          <a:ln w="28575">
            <a:solidFill>
              <a:srgbClr val="396B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25650" y="7524750"/>
            <a:ext cx="209550" cy="209550"/>
          </a:xfrm>
          <a:prstGeom prst="ellipse">
            <a:avLst/>
          </a:prstGeom>
          <a:solidFill>
            <a:srgbClr val="E9B454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9496425"/>
            <a:ext cx="48127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42" kern="0" dirty="0">
                <a:solidFill>
                  <a:srgbClr val="96B2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星愿能力发展平台 × 星途益能成长教具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6405473" y="9520238"/>
            <a:ext cx="89192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6B2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04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857250"/>
            <a:ext cx="685800" cy="685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2150" y="1009650"/>
            <a:ext cx="35773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6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SCGP · 星愿能力发展平台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066800" y="2647950"/>
            <a:ext cx="123615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8FD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医院使用培训 · 开发目标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1066800" y="3352800"/>
            <a:ext cx="11478578" cy="20365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450" b="1" spc="-25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让评估、训练与记录</a:t>
            </a:r>
            <a:endParaRPr lang="en-US" sz="64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6450" b="1" spc="-25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形成连续工作流程</a:t>
            </a:r>
            <a:endParaRPr lang="en-US" sz="6450" dirty="0"/>
          </a:p>
        </p:txBody>
      </p:sp>
      <p:sp>
        <p:nvSpPr>
          <p:cNvPr id="12" name="Text 9"/>
          <p:cNvSpPr/>
          <p:nvPr/>
        </p:nvSpPr>
        <p:spPr>
          <a:xfrm>
            <a:off x="1066800" y="5789414"/>
            <a:ext cx="981075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C7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面向特殊教育与康复训练的日常需要，帮助团队把学生资料、训练行动和过程结果放在同一套工作路径中。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1066800" y="7408664"/>
            <a:ext cx="1714500" cy="657225"/>
          </a:xfrm>
          <a:prstGeom prst="roundRect">
            <a:avLst>
              <a:gd name="adj" fmla="val 50000"/>
            </a:avLst>
          </a:prstGeom>
          <a:ln w="19050">
            <a:solidFill>
              <a:srgbClr val="5271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71600" y="7551539"/>
            <a:ext cx="11811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E8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资料统一</a:t>
            </a:r>
            <a:endParaRPr lang="en-US" sz="2175" dirty="0"/>
          </a:p>
        </p:txBody>
      </p:sp>
      <p:sp>
        <p:nvSpPr>
          <p:cNvPr id="15" name="Shape 12"/>
          <p:cNvSpPr/>
          <p:nvPr/>
        </p:nvSpPr>
        <p:spPr>
          <a:xfrm>
            <a:off x="2971800" y="7408664"/>
            <a:ext cx="1990725" cy="657225"/>
          </a:xfrm>
          <a:prstGeom prst="roundRect">
            <a:avLst>
              <a:gd name="adj" fmla="val 50000"/>
            </a:avLst>
          </a:prstGeom>
          <a:ln w="19050">
            <a:solidFill>
              <a:srgbClr val="5271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76600" y="7551539"/>
            <a:ext cx="14573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E8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行动可追踪</a:t>
            </a:r>
            <a:endParaRPr lang="en-US" sz="2175" dirty="0"/>
          </a:p>
        </p:txBody>
      </p:sp>
      <p:sp>
        <p:nvSpPr>
          <p:cNvPr id="17" name="Shape 14"/>
          <p:cNvSpPr/>
          <p:nvPr/>
        </p:nvSpPr>
        <p:spPr>
          <a:xfrm>
            <a:off x="5153025" y="7408664"/>
            <a:ext cx="1990725" cy="657225"/>
          </a:xfrm>
          <a:prstGeom prst="roundRect">
            <a:avLst>
              <a:gd name="adj" fmla="val 50000"/>
            </a:avLst>
          </a:prstGeom>
          <a:ln w="19050">
            <a:solidFill>
              <a:srgbClr val="5271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57825" y="7551539"/>
            <a:ext cx="14573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E8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结果可回看</a:t>
            </a:r>
            <a:endParaRPr lang="en-US" sz="21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B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62025"/>
            <a:ext cx="174277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162" kern="0" dirty="0">
                <a:solidFill>
                  <a:srgbClr val="178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软件功能全貌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16405473" y="981075"/>
            <a:ext cx="89192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2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04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66800" y="1847850"/>
            <a:ext cx="16639032" cy="793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4875" b="1" spc="-171" kern="0" dirty="0">
                <a:solidFill>
                  <a:srgbClr val="12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从学生档案走到报告回看</a:t>
            </a:r>
            <a:endParaRPr lang="en-US" sz="4875" dirty="0"/>
          </a:p>
        </p:txBody>
      </p:sp>
      <p:sp>
        <p:nvSpPr>
          <p:cNvPr id="6" name="Text 4"/>
          <p:cNvSpPr/>
          <p:nvPr/>
        </p:nvSpPr>
        <p:spPr>
          <a:xfrm>
            <a:off x="1066800" y="2841278"/>
            <a:ext cx="16639032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550" dirty="0">
                <a:solidFill>
                  <a:srgbClr val="55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围绕同一个服务对象，串联日常使用的核心入口。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066800" y="3914626"/>
            <a:ext cx="2781300" cy="1773436"/>
          </a:xfrm>
          <a:prstGeom prst="roundRect">
            <a:avLst>
              <a:gd name="adj" fmla="val 1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33375" dist="114300" dir="5400000">
              <a:srgbClr val="0E3D55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04925" y="4143226"/>
            <a:ext cx="23812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8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304925" y="4638526"/>
            <a:ext cx="238125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12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学生档案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304925" y="5145137"/>
            <a:ext cx="23812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5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基本资料与服务记录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4057650" y="3914626"/>
            <a:ext cx="2781300" cy="1773436"/>
          </a:xfrm>
          <a:prstGeom prst="roundRect">
            <a:avLst>
              <a:gd name="adj" fmla="val 1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33375" dist="114300" dir="5400000">
              <a:srgbClr val="0E3D55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95775" y="4143226"/>
            <a:ext cx="23812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8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4295775" y="4638526"/>
            <a:ext cx="238125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12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能力评估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4295775" y="5145137"/>
            <a:ext cx="23812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5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量表与结果查看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7048500" y="3914626"/>
            <a:ext cx="2781300" cy="1773436"/>
          </a:xfrm>
          <a:prstGeom prst="roundRect">
            <a:avLst>
              <a:gd name="adj" fmla="val 1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33375" dist="114300" dir="5400000">
              <a:srgbClr val="0E3D55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86625" y="4143226"/>
            <a:ext cx="23812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8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7286625" y="4638526"/>
            <a:ext cx="238125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12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IEP 计划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7286625" y="5145137"/>
            <a:ext cx="23812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5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训练目标与安排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066800" y="5916662"/>
            <a:ext cx="2781300" cy="1773436"/>
          </a:xfrm>
          <a:prstGeom prst="roundRect">
            <a:avLst>
              <a:gd name="adj" fmla="val 1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33375" dist="114300" dir="5400000">
              <a:srgbClr val="0E3D55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304925" y="6145262"/>
            <a:ext cx="23812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8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1304925" y="6640562"/>
            <a:ext cx="238125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12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训练资源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04925" y="7147173"/>
            <a:ext cx="23812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5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游戏与教学素材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4057650" y="5916662"/>
            <a:ext cx="2781300" cy="1773436"/>
          </a:xfrm>
          <a:prstGeom prst="roundRect">
            <a:avLst>
              <a:gd name="adj" fmla="val 1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33375" dist="114300" dir="5400000">
              <a:srgbClr val="0E3D55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295775" y="6145262"/>
            <a:ext cx="23812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8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4295775" y="6640562"/>
            <a:ext cx="238125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12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器材训练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4295775" y="7147173"/>
            <a:ext cx="23812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5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现场使用与过程记录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7048500" y="5916662"/>
            <a:ext cx="2781300" cy="1773436"/>
          </a:xfrm>
          <a:prstGeom prst="roundRect">
            <a:avLst>
              <a:gd name="adj" fmla="val 1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33375" dist="114300" dir="5400000">
              <a:srgbClr val="0E3D55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286625" y="6145262"/>
            <a:ext cx="23812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8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7286625" y="6640562"/>
            <a:ext cx="238125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12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报告回看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7286625" y="7147173"/>
            <a:ext cx="23812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5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进展整理与沟通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 rot="60000">
            <a:off x="10515600" y="3914626"/>
            <a:ext cx="6705600" cy="5067300"/>
          </a:xfrm>
          <a:prstGeom prst="roundRect">
            <a:avLst>
              <a:gd name="adj" fmla="val 4323"/>
            </a:avLst>
          </a:prstGeom>
          <a:solidFill>
            <a:srgbClr val="DCEAF1"/>
          </a:solidFill>
          <a:ln/>
          <a:effectLst>
            <a:outerShdw sx="100000" sy="100000" kx="0" ky="0" algn="bl" rotWithShape="0" blurRad="523875" dist="209550" dir="5400000">
              <a:srgbClr val="09344A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693877" y="4069673"/>
            <a:ext cx="6357855" cy="4252459"/>
          </a:xfrm>
          <a:prstGeom prst="roundRect">
            <a:avLst>
              <a:gd name="adj" fmla="val 2464"/>
            </a:avLst>
          </a:prstGeom>
          <a:solidFill>
            <a:srgbClr val="FFFFFF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9453" b="-9453"/>
          <a:stretch/>
        </p:blipFill>
        <p:spPr>
          <a:xfrm>
            <a:off x="10693877" y="4069673"/>
            <a:ext cx="6357855" cy="4252459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0590697" y="8383841"/>
            <a:ext cx="6480102" cy="481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486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SCGP 软件真实界面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66800" y="8610600"/>
            <a:ext cx="604342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支撑功能</a:t>
            </a:r>
            <a:pPr algn="l" indent="0" marL="0">
              <a:buNone/>
            </a:pPr>
            <a:r>
              <a:rPr lang="en-US" sz="2100" dirty="0">
                <a:solidFill>
                  <a:srgbClr val="48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：资源管理、账号与权限、系统配置等。</a:t>
            </a:r>
            <a:endParaRPr lang="en-US" sz="2100" dirty="0"/>
          </a:p>
        </p:txBody>
      </p:sp>
      <p:sp>
        <p:nvSpPr>
          <p:cNvPr id="36" name="Text 33"/>
          <p:cNvSpPr/>
          <p:nvPr/>
        </p:nvSpPr>
        <p:spPr>
          <a:xfrm>
            <a:off x="1066800" y="9496425"/>
            <a:ext cx="329779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42" kern="0" dirty="0">
                <a:solidFill>
                  <a:srgbClr val="759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SCGP · 星愿能力发展平台</a:t>
            </a:r>
            <a:endParaRPr lang="en-US" sz="2100" dirty="0"/>
          </a:p>
        </p:txBody>
      </p:sp>
      <p:sp>
        <p:nvSpPr>
          <p:cNvPr id="37" name="Text 34"/>
          <p:cNvSpPr/>
          <p:nvPr/>
        </p:nvSpPr>
        <p:spPr>
          <a:xfrm>
            <a:off x="16154400" y="9496425"/>
            <a:ext cx="1143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59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开场介绍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AF4F7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62025"/>
            <a:ext cx="154200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162" kern="0" dirty="0">
                <a:solidFill>
                  <a:srgbClr val="178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软件 × 教具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16405473" y="981075"/>
            <a:ext cx="89192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2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04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66800" y="1771650"/>
            <a:ext cx="16639032" cy="793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4875" b="1" spc="-171" kern="0" dirty="0">
                <a:solidFill>
                  <a:srgbClr val="12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现场训练由人员执行并记录</a:t>
            </a:r>
            <a:endParaRPr lang="en-US" sz="4875" dirty="0"/>
          </a:p>
        </p:txBody>
      </p:sp>
      <p:sp>
        <p:nvSpPr>
          <p:cNvPr id="6" name="Text 4"/>
          <p:cNvSpPr/>
          <p:nvPr/>
        </p:nvSpPr>
        <p:spPr>
          <a:xfrm>
            <a:off x="1066800" y="2736503"/>
            <a:ext cx="15206662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550" dirty="0">
                <a:solidFill>
                  <a:srgbClr val="55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系统负责目标、资源和过程信息；医护与治疗人员使用实物教具完成训练。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066800" y="3981301"/>
            <a:ext cx="3514874" cy="28194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42900" dist="114300" dir="5400000">
              <a:srgbClr val="0C3D5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52550" y="4305151"/>
            <a:ext cx="30316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178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52550" y="4876651"/>
            <a:ext cx="303167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12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查看目标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352550" y="5543401"/>
            <a:ext cx="3031675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536D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依据评估与计划，明确本次训练重点。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743599" y="3981301"/>
            <a:ext cx="374303" cy="285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525" b="1" dirty="0">
                <a:solidFill>
                  <a:srgbClr val="48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525" dirty="0"/>
          </a:p>
        </p:txBody>
      </p:sp>
      <p:sp>
        <p:nvSpPr>
          <p:cNvPr id="12" name="Shape 10"/>
          <p:cNvSpPr/>
          <p:nvPr/>
        </p:nvSpPr>
        <p:spPr>
          <a:xfrm>
            <a:off x="5279827" y="3981301"/>
            <a:ext cx="3515023" cy="28194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42900" dist="114300" dir="5400000">
              <a:srgbClr val="0C3D5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65577" y="4305151"/>
            <a:ext cx="303182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178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565577" y="4876651"/>
            <a:ext cx="303182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12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选择资源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565577" y="5543401"/>
            <a:ext cx="3031828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536D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查看适用的训练内容与教具信息。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956774" y="3981301"/>
            <a:ext cx="374303" cy="285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525" b="1" dirty="0">
                <a:solidFill>
                  <a:srgbClr val="48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525" dirty="0"/>
          </a:p>
        </p:txBody>
      </p:sp>
      <p:sp>
        <p:nvSpPr>
          <p:cNvPr id="17" name="Shape 15"/>
          <p:cNvSpPr/>
          <p:nvPr/>
        </p:nvSpPr>
        <p:spPr>
          <a:xfrm>
            <a:off x="9493002" y="3981301"/>
            <a:ext cx="3515023" cy="2819400"/>
          </a:xfrm>
          <a:prstGeom prst="roundRect">
            <a:avLst>
              <a:gd name="adj" fmla="val 8108"/>
            </a:avLst>
          </a:prstGeom>
          <a:solidFill>
            <a:srgbClr val="D7F0ED"/>
          </a:solidFill>
          <a:ln/>
          <a:effectLst>
            <a:outerShdw sx="100000" sy="100000" kx="0" ky="0" algn="bl" rotWithShape="0" blurRad="342900" dist="114300" dir="5400000">
              <a:srgbClr val="0C3D5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778752" y="4305151"/>
            <a:ext cx="303182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178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778752" y="4876651"/>
            <a:ext cx="303182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12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使用教具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778752" y="5543401"/>
            <a:ext cx="3031828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536D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按实际任务组织练习与观察。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3169950" y="3981301"/>
            <a:ext cx="374303" cy="285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525" b="1" dirty="0">
                <a:solidFill>
                  <a:srgbClr val="48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525" dirty="0"/>
          </a:p>
        </p:txBody>
      </p:sp>
      <p:sp>
        <p:nvSpPr>
          <p:cNvPr id="22" name="Shape 20"/>
          <p:cNvSpPr/>
          <p:nvPr/>
        </p:nvSpPr>
        <p:spPr>
          <a:xfrm>
            <a:off x="13706177" y="3981301"/>
            <a:ext cx="3515023" cy="28194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42900" dist="114300" dir="5400000">
              <a:srgbClr val="0C3D5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3991927" y="4305151"/>
            <a:ext cx="303182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178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3991927" y="4876651"/>
            <a:ext cx="303182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12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记录回看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3991927" y="5543401"/>
            <a:ext cx="3031828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536D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录入表现、提示和时长，形成记录。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066800" y="7524601"/>
            <a:ext cx="133350" cy="133350"/>
          </a:xfrm>
          <a:prstGeom prst="ellipse">
            <a:avLst/>
          </a:prstGeom>
          <a:solidFill>
            <a:srgbClr val="E9B454"/>
          </a:solidFill>
          <a:ln/>
        </p:spPr>
      </p:sp>
      <p:sp>
        <p:nvSpPr>
          <p:cNvPr id="27" name="Text 25"/>
          <p:cNvSpPr/>
          <p:nvPr/>
        </p:nvSpPr>
        <p:spPr>
          <a:xfrm>
            <a:off x="1428750" y="7400776"/>
            <a:ext cx="676941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D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现场演示以医院实际交付的星途益能成长教具为准。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066800" y="9496425"/>
            <a:ext cx="329779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42" kern="0" dirty="0">
                <a:solidFill>
                  <a:srgbClr val="759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SCGP · 星愿能力发展平台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6154400" y="9496425"/>
            <a:ext cx="1143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59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开场介绍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B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14400"/>
            <a:ext cx="257606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162" kern="0" dirty="0">
                <a:solidFill>
                  <a:srgbClr val="178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接下来切换真实软件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16405473" y="933450"/>
            <a:ext cx="89192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2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04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66800" y="1781175"/>
            <a:ext cx="16639032" cy="793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4875" b="1" spc="-171" kern="0" dirty="0">
                <a:solidFill>
                  <a:srgbClr val="12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分钟跑通一例模拟流程</a:t>
            </a:r>
            <a:endParaRPr lang="en-US" sz="4875" dirty="0"/>
          </a:p>
        </p:txBody>
      </p:sp>
      <p:sp>
        <p:nvSpPr>
          <p:cNvPr id="6" name="Text 4"/>
          <p:cNvSpPr/>
          <p:nvPr/>
        </p:nvSpPr>
        <p:spPr>
          <a:xfrm>
            <a:off x="1066800" y="2774603"/>
            <a:ext cx="14716125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550" dirty="0">
                <a:solidFill>
                  <a:srgbClr val="55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讲师操作软件，参训人员按岗位观察、体验教具并完成一次记录。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066800" y="4067026"/>
            <a:ext cx="2549426" cy="31051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23850" dist="123825" dir="5400000">
              <a:srgbClr val="07364D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95400" y="4352776"/>
            <a:ext cx="2168426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75" b="1" dirty="0">
                <a:solidFill>
                  <a:srgbClr val="186D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675" dirty="0"/>
          </a:p>
        </p:txBody>
      </p:sp>
      <p:sp>
        <p:nvSpPr>
          <p:cNvPr id="9" name="Text 7"/>
          <p:cNvSpPr/>
          <p:nvPr/>
        </p:nvSpPr>
        <p:spPr>
          <a:xfrm>
            <a:off x="1295400" y="4905226"/>
            <a:ext cx="21684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673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分钟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95400" y="5571976"/>
            <a:ext cx="533400" cy="57150"/>
          </a:xfrm>
          <a:prstGeom prst="roundRect">
            <a:avLst>
              <a:gd name="adj" fmla="val 50000"/>
            </a:avLst>
          </a:prstGeom>
          <a:solidFill>
            <a:srgbClr val="178C91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5867251"/>
            <a:ext cx="2168426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75" b="1" dirty="0">
                <a:solidFill>
                  <a:srgbClr val="12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登录与</a:t>
            </a:r>
            <a:endParaRPr lang="en-US" sz="247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75" b="1" dirty="0">
                <a:solidFill>
                  <a:srgbClr val="12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个案准备</a:t>
            </a:r>
            <a:endParaRPr lang="en-US" sz="2475" dirty="0"/>
          </a:p>
        </p:txBody>
      </p:sp>
      <p:sp>
        <p:nvSpPr>
          <p:cNvPr id="12" name="Shape 10"/>
          <p:cNvSpPr/>
          <p:nvPr/>
        </p:nvSpPr>
        <p:spPr>
          <a:xfrm>
            <a:off x="3787676" y="4067026"/>
            <a:ext cx="2549575" cy="31051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23850" dist="123825" dir="5400000">
              <a:srgbClr val="07364D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16276" y="4352776"/>
            <a:ext cx="216857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75" b="1" dirty="0">
                <a:solidFill>
                  <a:srgbClr val="186D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675" dirty="0"/>
          </a:p>
        </p:txBody>
      </p:sp>
      <p:sp>
        <p:nvSpPr>
          <p:cNvPr id="14" name="Text 12"/>
          <p:cNvSpPr/>
          <p:nvPr/>
        </p:nvSpPr>
        <p:spPr>
          <a:xfrm>
            <a:off x="4016276" y="4905226"/>
            <a:ext cx="21685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673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分钟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4016276" y="5571976"/>
            <a:ext cx="533400" cy="57150"/>
          </a:xfrm>
          <a:prstGeom prst="roundRect">
            <a:avLst>
              <a:gd name="adj" fmla="val 50000"/>
            </a:avLst>
          </a:prstGeom>
          <a:solidFill>
            <a:srgbClr val="178C91"/>
          </a:solidFill>
          <a:ln/>
        </p:spPr>
      </p:sp>
      <p:sp>
        <p:nvSpPr>
          <p:cNvPr id="16" name="Text 14"/>
          <p:cNvSpPr/>
          <p:nvPr/>
        </p:nvSpPr>
        <p:spPr>
          <a:xfrm>
            <a:off x="4016276" y="5867251"/>
            <a:ext cx="2168575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75" b="1" dirty="0">
                <a:solidFill>
                  <a:srgbClr val="12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评估与</a:t>
            </a:r>
            <a:endParaRPr lang="en-US" sz="247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75" b="1" dirty="0">
                <a:solidFill>
                  <a:srgbClr val="12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</a:t>
            </a:r>
            <a:endParaRPr lang="en-US" sz="2475" dirty="0"/>
          </a:p>
        </p:txBody>
      </p:sp>
      <p:sp>
        <p:nvSpPr>
          <p:cNvPr id="17" name="Shape 15"/>
          <p:cNvSpPr/>
          <p:nvPr/>
        </p:nvSpPr>
        <p:spPr>
          <a:xfrm>
            <a:off x="6508700" y="4067026"/>
            <a:ext cx="2549426" cy="3105150"/>
          </a:xfrm>
          <a:prstGeom prst="roundRect">
            <a:avLst>
              <a:gd name="adj" fmla="val 8219"/>
            </a:avLst>
          </a:prstGeom>
          <a:solidFill>
            <a:srgbClr val="D8F1EF"/>
          </a:solidFill>
          <a:ln/>
          <a:effectLst>
            <a:outerShdw sx="100000" sy="100000" kx="0" ky="0" algn="bl" rotWithShape="0" blurRad="323850" dist="123825" dir="5400000">
              <a:srgbClr val="07364D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37300" y="4352776"/>
            <a:ext cx="2168426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75" b="1" dirty="0">
                <a:solidFill>
                  <a:srgbClr val="186D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3675" dirty="0"/>
          </a:p>
        </p:txBody>
      </p:sp>
      <p:sp>
        <p:nvSpPr>
          <p:cNvPr id="19" name="Text 17"/>
          <p:cNvSpPr/>
          <p:nvPr/>
        </p:nvSpPr>
        <p:spPr>
          <a:xfrm>
            <a:off x="6737300" y="4905226"/>
            <a:ext cx="21684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673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分钟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6737300" y="5571976"/>
            <a:ext cx="533400" cy="57150"/>
          </a:xfrm>
          <a:prstGeom prst="roundRect">
            <a:avLst>
              <a:gd name="adj" fmla="val 50000"/>
            </a:avLst>
          </a:prstGeom>
          <a:solidFill>
            <a:srgbClr val="178C91"/>
          </a:solidFill>
          <a:ln/>
        </p:spPr>
      </p:sp>
      <p:sp>
        <p:nvSpPr>
          <p:cNvPr id="21" name="Text 19"/>
          <p:cNvSpPr/>
          <p:nvPr/>
        </p:nvSpPr>
        <p:spPr>
          <a:xfrm>
            <a:off x="6737300" y="5867251"/>
            <a:ext cx="2168426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75" b="1" dirty="0">
                <a:solidFill>
                  <a:srgbClr val="12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教具训练</a:t>
            </a:r>
            <a:endParaRPr lang="en-US" sz="247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75" b="1" dirty="0">
                <a:solidFill>
                  <a:srgbClr val="12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现场演示</a:t>
            </a:r>
            <a:endParaRPr lang="en-US" sz="2475" dirty="0"/>
          </a:p>
        </p:txBody>
      </p:sp>
      <p:sp>
        <p:nvSpPr>
          <p:cNvPr id="22" name="Shape 20"/>
          <p:cNvSpPr/>
          <p:nvPr/>
        </p:nvSpPr>
        <p:spPr>
          <a:xfrm>
            <a:off x="9229576" y="4067026"/>
            <a:ext cx="2549575" cy="31051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23850" dist="123825" dir="5400000">
              <a:srgbClr val="07364D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458176" y="4352776"/>
            <a:ext cx="216857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75" b="1" dirty="0">
                <a:solidFill>
                  <a:srgbClr val="186D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3675" dirty="0"/>
          </a:p>
        </p:txBody>
      </p:sp>
      <p:sp>
        <p:nvSpPr>
          <p:cNvPr id="24" name="Text 22"/>
          <p:cNvSpPr/>
          <p:nvPr/>
        </p:nvSpPr>
        <p:spPr>
          <a:xfrm>
            <a:off x="9458176" y="4905226"/>
            <a:ext cx="21685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673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分钟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458176" y="5571976"/>
            <a:ext cx="533400" cy="57150"/>
          </a:xfrm>
          <a:prstGeom prst="roundRect">
            <a:avLst>
              <a:gd name="adj" fmla="val 50000"/>
            </a:avLst>
          </a:prstGeom>
          <a:solidFill>
            <a:srgbClr val="178C91"/>
          </a:solidFill>
          <a:ln/>
        </p:spPr>
      </p:sp>
      <p:sp>
        <p:nvSpPr>
          <p:cNvPr id="26" name="Text 24"/>
          <p:cNvSpPr/>
          <p:nvPr/>
        </p:nvSpPr>
        <p:spPr>
          <a:xfrm>
            <a:off x="9458176" y="5867251"/>
            <a:ext cx="2168575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75" b="1" dirty="0">
                <a:solidFill>
                  <a:srgbClr val="12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训练记录</a:t>
            </a:r>
            <a:endParaRPr lang="en-US" sz="247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75" b="1" dirty="0">
                <a:solidFill>
                  <a:srgbClr val="12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与报告</a:t>
            </a:r>
            <a:endParaRPr lang="en-US" sz="2475" dirty="0"/>
          </a:p>
        </p:txBody>
      </p:sp>
      <p:sp>
        <p:nvSpPr>
          <p:cNvPr id="27" name="Shape 25"/>
          <p:cNvSpPr/>
          <p:nvPr/>
        </p:nvSpPr>
        <p:spPr>
          <a:xfrm>
            <a:off x="11950601" y="4067026"/>
            <a:ext cx="2549575" cy="31051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23850" dist="123825" dir="5400000">
              <a:srgbClr val="07364D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2179201" y="4352776"/>
            <a:ext cx="216857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75" b="1" dirty="0">
                <a:solidFill>
                  <a:srgbClr val="186D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675" dirty="0"/>
          </a:p>
        </p:txBody>
      </p:sp>
      <p:sp>
        <p:nvSpPr>
          <p:cNvPr id="29" name="Text 27"/>
          <p:cNvSpPr/>
          <p:nvPr/>
        </p:nvSpPr>
        <p:spPr>
          <a:xfrm>
            <a:off x="12179201" y="4905226"/>
            <a:ext cx="21685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673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分钟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2179201" y="5571976"/>
            <a:ext cx="533400" cy="57150"/>
          </a:xfrm>
          <a:prstGeom prst="roundRect">
            <a:avLst>
              <a:gd name="adj" fmla="val 50000"/>
            </a:avLst>
          </a:prstGeom>
          <a:solidFill>
            <a:srgbClr val="178C91"/>
          </a:solidFill>
          <a:ln/>
        </p:spPr>
      </p:sp>
      <p:sp>
        <p:nvSpPr>
          <p:cNvPr id="31" name="Text 29"/>
          <p:cNvSpPr/>
          <p:nvPr/>
        </p:nvSpPr>
        <p:spPr>
          <a:xfrm>
            <a:off x="12179201" y="5867251"/>
            <a:ext cx="2168575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75" b="1" dirty="0">
                <a:solidFill>
                  <a:srgbClr val="12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分组</a:t>
            </a:r>
            <a:endParaRPr lang="en-US" sz="247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75" b="1" dirty="0">
                <a:solidFill>
                  <a:srgbClr val="12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实操</a:t>
            </a:r>
            <a:endParaRPr lang="en-US" sz="2475" dirty="0"/>
          </a:p>
        </p:txBody>
      </p:sp>
      <p:sp>
        <p:nvSpPr>
          <p:cNvPr id="32" name="Shape 30"/>
          <p:cNvSpPr/>
          <p:nvPr/>
        </p:nvSpPr>
        <p:spPr>
          <a:xfrm>
            <a:off x="14671625" y="4067026"/>
            <a:ext cx="2549426" cy="31051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23850" dist="123825" dir="5400000">
              <a:srgbClr val="07364D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900225" y="4352776"/>
            <a:ext cx="2168426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75" b="1" dirty="0">
                <a:solidFill>
                  <a:srgbClr val="186D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675" dirty="0"/>
          </a:p>
        </p:txBody>
      </p:sp>
      <p:sp>
        <p:nvSpPr>
          <p:cNvPr id="34" name="Text 32"/>
          <p:cNvSpPr/>
          <p:nvPr/>
        </p:nvSpPr>
        <p:spPr>
          <a:xfrm>
            <a:off x="14900225" y="4905226"/>
            <a:ext cx="21684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673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分钟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14900225" y="5571976"/>
            <a:ext cx="533400" cy="57150"/>
          </a:xfrm>
          <a:prstGeom prst="roundRect">
            <a:avLst>
              <a:gd name="adj" fmla="val 50000"/>
            </a:avLst>
          </a:prstGeom>
          <a:solidFill>
            <a:srgbClr val="178C91"/>
          </a:solidFill>
          <a:ln/>
        </p:spPr>
      </p:sp>
      <p:sp>
        <p:nvSpPr>
          <p:cNvPr id="36" name="Text 34"/>
          <p:cNvSpPr/>
          <p:nvPr/>
        </p:nvSpPr>
        <p:spPr>
          <a:xfrm>
            <a:off x="14900225" y="5867251"/>
            <a:ext cx="2168426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75" b="1" dirty="0">
                <a:solidFill>
                  <a:srgbClr val="12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</a:t>
            </a:r>
            <a:endParaRPr lang="en-US" sz="247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75" b="1" dirty="0">
                <a:solidFill>
                  <a:srgbClr val="12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收束</a:t>
            </a:r>
            <a:endParaRPr lang="en-US" sz="2475" dirty="0"/>
          </a:p>
        </p:txBody>
      </p:sp>
      <p:sp>
        <p:nvSpPr>
          <p:cNvPr id="37" name="Shape 35"/>
          <p:cNvSpPr/>
          <p:nvPr/>
        </p:nvSpPr>
        <p:spPr>
          <a:xfrm>
            <a:off x="1066800" y="7724626"/>
            <a:ext cx="1447800" cy="590550"/>
          </a:xfrm>
          <a:prstGeom prst="roundRect">
            <a:avLst>
              <a:gd name="adj" fmla="val 50000"/>
            </a:avLst>
          </a:prstGeom>
          <a:solidFill>
            <a:srgbClr val="123653"/>
          </a:solidFill>
          <a:ln/>
        </p:spPr>
      </p:sp>
      <p:sp>
        <p:nvSpPr>
          <p:cNvPr id="38" name="Text 36"/>
          <p:cNvSpPr/>
          <p:nvPr/>
        </p:nvSpPr>
        <p:spPr>
          <a:xfrm>
            <a:off x="1314450" y="7848451"/>
            <a:ext cx="1028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混合团队</a:t>
            </a:r>
            <a:endParaRPr lang="en-US" sz="1875" dirty="0"/>
          </a:p>
        </p:txBody>
      </p:sp>
      <p:sp>
        <p:nvSpPr>
          <p:cNvPr id="39" name="Text 37"/>
          <p:cNvSpPr/>
          <p:nvPr/>
        </p:nvSpPr>
        <p:spPr>
          <a:xfrm>
            <a:off x="2743200" y="7834164"/>
            <a:ext cx="711279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48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医生、治疗师、护士、管理人员围绕同一模拟个案协作。</a:t>
            </a:r>
            <a:endParaRPr lang="en-US" sz="2175" dirty="0"/>
          </a:p>
        </p:txBody>
      </p:sp>
      <p:sp>
        <p:nvSpPr>
          <p:cNvPr id="40" name="Text 38"/>
          <p:cNvSpPr/>
          <p:nvPr/>
        </p:nvSpPr>
        <p:spPr>
          <a:xfrm>
            <a:off x="1066800" y="9496425"/>
            <a:ext cx="329779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42" kern="0" dirty="0">
                <a:solidFill>
                  <a:srgbClr val="759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SCGP · 星愿能力发展平台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6154400" y="9496425"/>
            <a:ext cx="1143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59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现场演示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2138"/>
          </a:solidFill>
          <a:ln/>
        </p:spPr>
      </p:sp>
      <p:sp>
        <p:nvSpPr>
          <p:cNvPr id="3" name="Shape 1"/>
          <p:cNvSpPr/>
          <p:nvPr/>
        </p:nvSpPr>
        <p:spPr>
          <a:xfrm>
            <a:off x="9048750" y="-2286000"/>
            <a:ext cx="11430000" cy="11430000"/>
          </a:xfrm>
          <a:prstGeom prst="ellipse">
            <a:avLst/>
          </a:prstGeom>
          <a:ln w="28575">
            <a:solidFill>
              <a:srgbClr val="2850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49000" y="0"/>
            <a:ext cx="7239000" cy="7239000"/>
          </a:xfrm>
          <a:prstGeom prst="ellipse">
            <a:avLst/>
          </a:prstGeom>
          <a:ln w="28575">
            <a:solidFill>
              <a:srgbClr val="396B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6800" y="9496425"/>
            <a:ext cx="48127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42" kern="0" dirty="0">
                <a:solidFill>
                  <a:srgbClr val="96B2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星愿能力发展平台 × 星途益能成长教具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687800" y="9496425"/>
            <a:ext cx="6096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6B2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</a:t>
            </a:r>
            <a:endParaRPr lang="en-US" sz="2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3122265"/>
            <a:ext cx="762000" cy="762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38350" y="3303240"/>
            <a:ext cx="367458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SCGP · 星愿能力发展平台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66800" y="4436715"/>
            <a:ext cx="4520916" cy="1432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0" b="1" spc="-3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感谢参与</a:t>
            </a:r>
            <a:endParaRPr lang="en-US" sz="9000" dirty="0"/>
          </a:p>
        </p:txBody>
      </p:sp>
      <p:sp>
        <p:nvSpPr>
          <p:cNvPr id="10" name="Text 7"/>
          <p:cNvSpPr/>
          <p:nvPr/>
        </p:nvSpPr>
        <p:spPr>
          <a:xfrm>
            <a:off x="1066800" y="6164461"/>
            <a:ext cx="6710553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850" dirty="0">
                <a:solidFill>
                  <a:srgbClr val="C0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让评估、训练与记录在真实工作中衔接。</a:t>
            </a:r>
            <a:endParaRPr lang="en-US" sz="2850" dirty="0"/>
          </a:p>
        </p:txBody>
      </p:sp>
      <p:sp>
        <p:nvSpPr>
          <p:cNvPr id="11" name="Shape 8"/>
          <p:cNvSpPr/>
          <p:nvPr/>
        </p:nvSpPr>
        <p:spPr>
          <a:xfrm>
            <a:off x="1066800" y="7240786"/>
            <a:ext cx="1104900" cy="76200"/>
          </a:xfrm>
          <a:prstGeom prst="roundRect">
            <a:avLst>
              <a:gd name="adj" fmla="val 50000"/>
            </a:avLst>
          </a:prstGeom>
          <a:solidFill>
            <a:srgbClr val="E9B45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2026-10-14T13:17:39Z</dcterms:created>
  <dcterms:modified xsi:type="dcterms:W3CDTF">2026-10-14T13:17:39Z</dcterms:modified>
</cp:coreProperties>
</file>